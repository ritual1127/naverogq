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1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74519"/>
            <a:ext cx="10515600" cy="10560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5500" b="1">
                <a:solidFill>
                  <a:srgbClr val="E9EFF7"/>
                </a:solidFill>
                <a:latin typeface="맑은 고딕"/>
              </a:rPr>
              <a:t>다 그린 줄 알았습니다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3108960"/>
            <a:ext cx="1143000" cy="19050"/>
          </a:xfrm>
          <a:prstGeom prst="rect">
            <a:avLst/>
          </a:prstGeom>
          <a:solidFill>
            <a:srgbClr val="3AA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11880"/>
            <a:ext cx="10515600" cy="1167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100" b="0">
                <a:solidFill>
                  <a:srgbClr val="E9EFF7"/>
                </a:solidFill>
                <a:latin typeface="맑은 고딕"/>
              </a:rPr>
              <a:t>치수 하나, 표면거칠기 하나가</a:t>
            </a:r>
          </a:p>
          <a:p>
            <a:pPr algn="l">
              <a:lnSpc>
                <a:spcPct val="125000"/>
              </a:lnSpc>
            </a:pPr>
            <a:r>
              <a:rPr sz="3100" b="0">
                <a:solidFill>
                  <a:srgbClr val="E9EFF7"/>
                </a:solidFill>
                <a:latin typeface="맑은 고딕"/>
              </a:rPr>
              <a:t>계속 빠져 있었습니다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1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74519"/>
            <a:ext cx="10515600" cy="10560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5500" b="1">
                <a:solidFill>
                  <a:srgbClr val="F0A020"/>
                </a:solidFill>
                <a:latin typeface="맑은 고딕"/>
              </a:rPr>
              <a:t>저희만 그런 게 아니었습니다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3108960"/>
            <a:ext cx="1143000" cy="19050"/>
          </a:xfrm>
          <a:prstGeom prst="rect">
            <a:avLst/>
          </a:prstGeom>
          <a:solidFill>
            <a:srgbClr val="F0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11880"/>
            <a:ext cx="10515600" cy="1167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100" b="0">
                <a:solidFill>
                  <a:srgbClr val="E9EFF7"/>
                </a:solidFill>
                <a:latin typeface="맑은 고딕"/>
              </a:rPr>
              <a:t>“친구가 ‘여기 베어링 자리인데</a:t>
            </a:r>
          </a:p>
          <a:p>
            <a:pPr algn="l">
              <a:lnSpc>
                <a:spcPct val="125000"/>
              </a:lnSpc>
            </a:pPr>
            <a:r>
              <a:rPr sz="3100" b="0">
                <a:solidFill>
                  <a:srgbClr val="E9EFF7"/>
                </a:solidFill>
                <a:latin typeface="맑은 고딕"/>
              </a:rPr>
              <a:t>거칠기 없어도 돼?’라고 해서 알았어요.”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007610"/>
            <a:ext cx="10515600" cy="500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7D8BA0"/>
                </a:solidFill>
                <a:latin typeface="맑은 고딕"/>
              </a:rPr>
              <a:t>메카트로닉스과 2학년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1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74519"/>
            <a:ext cx="10515600" cy="10560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5500" b="1">
                <a:solidFill>
                  <a:srgbClr val="F0A020"/>
                </a:solidFill>
                <a:latin typeface="맑은 고딕"/>
              </a:rPr>
              <a:t>아직 못 쟀습니다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3108960"/>
            <a:ext cx="1143000" cy="19050"/>
          </a:xfrm>
          <a:prstGeom prst="rect">
            <a:avLst/>
          </a:prstGeom>
          <a:solidFill>
            <a:srgbClr val="F0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11880"/>
            <a:ext cx="10515600" cy="1167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100" b="0">
                <a:solidFill>
                  <a:srgbClr val="E9EFF7"/>
                </a:solidFill>
                <a:latin typeface="맑은 고딕"/>
              </a:rPr>
              <a:t>검출률 100% 는 우리가 만든</a:t>
            </a:r>
          </a:p>
          <a:p>
            <a:pPr algn="l">
              <a:lnSpc>
                <a:spcPct val="125000"/>
              </a:lnSpc>
            </a:pPr>
            <a:r>
              <a:rPr sz="3100" b="0">
                <a:solidFill>
                  <a:srgbClr val="E9EFF7"/>
                </a:solidFill>
                <a:latin typeface="맑은 고딕"/>
              </a:rPr>
              <a:t>합성 도면 100장에서 나온 숫자입니다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1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74519"/>
            <a:ext cx="10515600" cy="10560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5500" b="1">
                <a:solidFill>
                  <a:srgbClr val="E9EFF7"/>
                </a:solidFill>
                <a:latin typeface="맑은 고딕"/>
              </a:rPr>
              <a:t>4주 뒤 만들 숫자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3108960"/>
            <a:ext cx="1143000" cy="19050"/>
          </a:xfrm>
          <a:prstGeom prst="rect">
            <a:avLst/>
          </a:prstGeom>
          <a:solidFill>
            <a:srgbClr val="3AA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11880"/>
            <a:ext cx="10515600" cy="786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800" b="1">
                <a:solidFill>
                  <a:srgbClr val="3AA9FF"/>
                </a:solidFill>
                <a:latin typeface="맑은 고딕"/>
              </a:rPr>
              <a:t>주간 재검사 사용자  0명 → 20명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434840"/>
            <a:ext cx="10515600" cy="563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>
                <a:solidFill>
                  <a:srgbClr val="9FADC0"/>
                </a:solidFill>
                <a:latin typeface="맑은 고딕"/>
              </a:rPr>
              <a:t>고쳐서 다시 올린 사람 수입니다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